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>
      <p:cViewPr varScale="1">
        <p:scale>
          <a:sx n="83" d="100"/>
          <a:sy n="83" d="100"/>
        </p:scale>
        <p:origin x="123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8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5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5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7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3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7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1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14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0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0641F-E1CA-47E6-B600-C2BCF4271BF2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7183F-23AF-45F9-BB7C-94350597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0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8580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sz="3200" b="1">
                <a:latin typeface="Times New Roman"/>
              </a:rPr>
              <a:t>Digital Fault Recorder for High Impedance Faults</a:t>
            </a:r>
            <a:endParaRPr lang="en-US" sz="5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2438400"/>
            <a:ext cx="7086600" cy="3276600"/>
          </a:xfrm>
        </p:spPr>
        <p:txBody>
          <a:bodyPr>
            <a:normAutofit/>
          </a:bodyPr>
          <a:lstStyle/>
          <a:p>
            <a:pPr algn="ctr"/>
            <a:r>
              <a:rPr sz="1600" b="0" dirty="0">
                <a:solidFill>
                  <a:schemeClr val="tx1"/>
                </a:solidFill>
                <a:latin typeface="Times New Roman"/>
              </a:rPr>
              <a:t>by</a:t>
            </a:r>
          </a:p>
          <a:p>
            <a:pPr algn="ctr"/>
            <a:r>
              <a:rPr sz="1800" b="1" dirty="0">
                <a:solidFill>
                  <a:schemeClr val="tx1"/>
                </a:solidFill>
                <a:latin typeface="Times New Roman"/>
              </a:rPr>
              <a:t>Vijay Kumar Meena (22BEE0348)</a:t>
            </a:r>
          </a:p>
          <a:p>
            <a:pPr algn="ctr"/>
            <a:r>
              <a:rPr sz="1800" b="1" dirty="0">
                <a:solidFill>
                  <a:schemeClr val="tx1"/>
                </a:solidFill>
                <a:latin typeface="Times New Roman"/>
              </a:rPr>
              <a:t>Kaumudi Sharma (22BEE0368)</a:t>
            </a:r>
          </a:p>
          <a:p>
            <a:pPr algn="ctr"/>
            <a:r>
              <a:rPr sz="1800" b="1" dirty="0">
                <a:solidFill>
                  <a:schemeClr val="tx1"/>
                </a:solidFill>
                <a:latin typeface="Times New Roman"/>
              </a:rPr>
              <a:t>Kirtesh Singh (22BEE0344)</a:t>
            </a:r>
          </a:p>
          <a:p>
            <a:pPr algn="ctr"/>
            <a:endParaRPr sz="1800" b="1" dirty="0">
              <a:solidFill>
                <a:schemeClr val="tx1"/>
              </a:solidFill>
              <a:latin typeface="Times New Roman"/>
            </a:endParaRPr>
          </a:p>
          <a:p>
            <a:pPr algn="ctr"/>
            <a:r>
              <a:rPr sz="1400" b="0" dirty="0">
                <a:solidFill>
                  <a:schemeClr val="tx1"/>
                </a:solidFill>
                <a:latin typeface="Times New Roman"/>
              </a:rPr>
              <a:t>Under the guidance of</a:t>
            </a:r>
          </a:p>
          <a:p>
            <a:pPr algn="ctr"/>
            <a:r>
              <a:rPr sz="1700" b="1" dirty="0">
                <a:solidFill>
                  <a:schemeClr val="tx1"/>
                </a:solidFill>
                <a:latin typeface="Times New Roman"/>
              </a:rPr>
              <a:t>Dr. Himadri Lala</a:t>
            </a:r>
          </a:p>
          <a:p>
            <a:pPr algn="ctr"/>
            <a:r>
              <a:rPr sz="1300" b="0" dirty="0">
                <a:solidFill>
                  <a:schemeClr val="tx1"/>
                </a:solidFill>
                <a:latin typeface="Times New Roman"/>
              </a:rPr>
              <a:t>Assistant Professor, School of Electrical Engineering, VIT Vellore</a:t>
            </a:r>
          </a:p>
          <a:p>
            <a:pPr algn="ctr"/>
            <a:endParaRPr sz="1300" b="0" dirty="0">
              <a:solidFill>
                <a:schemeClr val="tx1"/>
              </a:solidFill>
              <a:latin typeface="Times New Roman"/>
            </a:endParaRPr>
          </a:p>
          <a:p>
            <a:pPr algn="ctr"/>
            <a:r>
              <a:rPr sz="1300" b="0" dirty="0">
                <a:solidFill>
                  <a:schemeClr val="tx1"/>
                </a:solidFill>
                <a:latin typeface="Times New Roman"/>
              </a:rPr>
              <a:t>VIII Semester | </a:t>
            </a:r>
            <a:r>
              <a:rPr sz="1300" b="0" dirty="0" err="1">
                <a:solidFill>
                  <a:schemeClr val="tx1"/>
                </a:solidFill>
                <a:latin typeface="Times New Roman"/>
              </a:rPr>
              <a:t>B.Tech</a:t>
            </a:r>
            <a:r>
              <a:rPr sz="1300" b="0" dirty="0">
                <a:solidFill>
                  <a:schemeClr val="tx1"/>
                </a:solidFill>
                <a:latin typeface="Times New Roman"/>
              </a:rPr>
              <a:t> EEE | May 2026</a:t>
            </a:r>
          </a:p>
        </p:txBody>
      </p:sp>
      <p:pic>
        <p:nvPicPr>
          <p:cNvPr id="5" name="Picture 4" descr="vi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5943600"/>
            <a:ext cx="219456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1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600" b="1">
                <a:latin typeface="Times New Roman"/>
              </a:rPr>
              <a:t>Contents</a:t>
            </a:r>
            <a:endParaRPr lang="en-US" sz="5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pPr algn="l"/>
            <a:r>
              <a:rPr sz="1500" b="0">
                <a:latin typeface="Times New Roman"/>
              </a:rPr>
              <a:t>1. Introduction to High Impedance Faults</a:t>
            </a:r>
          </a:p>
          <a:p>
            <a:pPr algn="l"/>
            <a:r>
              <a:rPr sz="1500" b="0">
                <a:latin typeface="Times New Roman"/>
              </a:rPr>
              <a:t>2. Objectives</a:t>
            </a:r>
          </a:p>
          <a:p>
            <a:pPr algn="l"/>
            <a:r>
              <a:rPr sz="1500" b="0">
                <a:latin typeface="Times New Roman"/>
              </a:rPr>
              <a:t>3. System Block Diagram &amp; Circuit</a:t>
            </a:r>
          </a:p>
          <a:p>
            <a:pPr algn="l"/>
            <a:r>
              <a:rPr sz="1500" b="0">
                <a:latin typeface="Times New Roman"/>
              </a:rPr>
              <a:t>4. Methodology &amp; Detection Algorithm</a:t>
            </a:r>
          </a:p>
          <a:p>
            <a:pPr algn="l"/>
            <a:r>
              <a:rPr sz="1500" b="0">
                <a:latin typeface="Times New Roman"/>
              </a:rPr>
              <a:t>5. Hardware Components &amp; Specifications</a:t>
            </a:r>
          </a:p>
          <a:p>
            <a:pPr algn="l"/>
            <a:r>
              <a:rPr sz="1500" b="0">
                <a:latin typeface="Times New Roman"/>
              </a:rPr>
              <a:t>6. Experimental Setup – VIT HV Laboratory</a:t>
            </a:r>
          </a:p>
          <a:p>
            <a:pPr algn="l"/>
            <a:r>
              <a:rPr sz="1500" b="0">
                <a:latin typeface="Times New Roman"/>
              </a:rPr>
              <a:t>7. Corona Discharge &amp; Arc Fault Observations</a:t>
            </a:r>
          </a:p>
          <a:p>
            <a:pPr algn="l"/>
            <a:r>
              <a:rPr sz="1500" b="0">
                <a:latin typeface="Times New Roman"/>
              </a:rPr>
              <a:t>8. Spectral Analysis – Normal Operating Condition</a:t>
            </a:r>
          </a:p>
          <a:p>
            <a:pPr algn="l"/>
            <a:r>
              <a:rPr sz="1500" b="0">
                <a:latin typeface="Times New Roman"/>
              </a:rPr>
              <a:t>9. Spectral Analysis – Pre-Fault Condition</a:t>
            </a:r>
          </a:p>
          <a:p>
            <a:pPr algn="l"/>
            <a:r>
              <a:rPr sz="1500" b="0">
                <a:latin typeface="Times New Roman"/>
              </a:rPr>
              <a:t>10. Spectral Analysis – Full Arc Fault Condition</a:t>
            </a:r>
          </a:p>
          <a:p>
            <a:pPr algn="l"/>
            <a:r>
              <a:rPr sz="1500" b="0">
                <a:latin typeface="Times New Roman"/>
              </a:rPr>
              <a:t>11. Live DFR Monitor Output (3 States)</a:t>
            </a:r>
          </a:p>
          <a:p>
            <a:pPr algn="l"/>
            <a:r>
              <a:rPr sz="1500" b="0">
                <a:latin typeface="Times New Roman"/>
              </a:rPr>
              <a:t>12. Key Results &amp; Discussion</a:t>
            </a:r>
          </a:p>
          <a:p>
            <a:pPr algn="l"/>
            <a:r>
              <a:rPr sz="1500" b="0">
                <a:latin typeface="Times New Roman"/>
              </a:rPr>
              <a:t>13. Cost Analysis</a:t>
            </a:r>
          </a:p>
          <a:p>
            <a:pPr algn="l"/>
            <a:r>
              <a:rPr sz="1500" b="0">
                <a:latin typeface="Times New Roman"/>
              </a:rPr>
              <a:t>14. Conclusion &amp; Future Scope</a:t>
            </a:r>
          </a:p>
          <a:p>
            <a:pPr algn="l"/>
            <a:r>
              <a:rPr sz="1500" b="0">
                <a:latin typeface="Times New Roman"/>
              </a:rPr>
              <a:t>15. References</a:t>
            </a:r>
          </a:p>
        </p:txBody>
      </p:sp>
    </p:spTree>
    <p:extLst>
      <p:ext uri="{BB962C8B-B14F-4D97-AF65-F5344CB8AC3E}">
        <p14:creationId xmlns:p14="http://schemas.microsoft.com/office/powerpoint/2010/main" val="260042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1">
                <a:latin typeface="Times New Roman"/>
              </a:rPr>
              <a:t>What are High Impedance Faults (HIF)?</a:t>
            </a:r>
            <a:endParaRPr lang="en-US"/>
          </a:p>
          <a:p>
            <a:r>
              <a:rPr sz="1500" b="0">
                <a:latin typeface="Times New Roman"/>
              </a:rPr>
              <a:t>A HIF occurs when a live conductor contacts a high-resistance surface such as a tree branch, dry soil, sand, or asphalt — creating a fault that is electrically invisible to conventional protection.</a:t>
            </a:r>
          </a:p>
          <a:p>
            <a:endParaRPr sz="1500" b="0">
              <a:latin typeface="Times New Roman"/>
            </a:endParaRPr>
          </a:p>
          <a:p>
            <a:r>
              <a:rPr sz="1800" b="1">
                <a:latin typeface="Times New Roman"/>
              </a:rPr>
              <a:t>Why are HIFs Dangerous?</a:t>
            </a:r>
          </a:p>
          <a:p>
            <a:r>
              <a:rPr sz="1500" b="0">
                <a:latin typeface="Times New Roman"/>
              </a:rPr>
              <a:t>Fault current is typically less than 10% of rated load current — far below the pickup threshold of overcurrent relays and circuit breakers.</a:t>
            </a:r>
          </a:p>
          <a:p>
            <a:r>
              <a:rPr sz="1500" b="0">
                <a:latin typeface="Times New Roman"/>
              </a:rPr>
              <a:t>Despite the low current, arc temperatures can reach several thousand degrees Celsius, leading to wildfires, equipment damage, and electrocution risk.</a:t>
            </a:r>
          </a:p>
          <a:p>
            <a:endParaRPr sz="1500" b="0">
              <a:latin typeface="Times New Roman"/>
            </a:endParaRPr>
          </a:p>
          <a:p>
            <a:r>
              <a:rPr sz="1800" b="1">
                <a:latin typeface="Times New Roman"/>
              </a:rPr>
              <a:t>The Problem Gap:</a:t>
            </a:r>
          </a:p>
          <a:p>
            <a:r>
              <a:rPr sz="1500" b="0">
                <a:latin typeface="Times New Roman"/>
              </a:rPr>
              <a:t>Trees leaning on MV lines are a leading real-world cause of HIFs. The grounding resistance of the tree and moisture content determine the arc behavior, making detection uniquely challenging.</a:t>
            </a:r>
          </a:p>
          <a:p>
            <a:endParaRPr sz="1500" b="0">
              <a:latin typeface="Times New Roman"/>
            </a:endParaRPr>
          </a:p>
          <a:p>
            <a:r>
              <a:rPr sz="1800" b="1">
                <a:latin typeface="Times New Roman"/>
              </a:rPr>
              <a:t>Our Solution:</a:t>
            </a:r>
          </a:p>
          <a:p>
            <a:r>
              <a:rPr sz="1500" b="0">
                <a:latin typeface="Times New Roman"/>
              </a:rPr>
              <a:t>A cost-effective Digital Fault Recorder (DFR) using Arduino + Python that captures voltage signatures and detects HIFs via harmonic spectral analysis — total cost under INR 800.</a:t>
            </a:r>
          </a:p>
        </p:txBody>
      </p:sp>
    </p:spTree>
    <p:extLst>
      <p:ext uri="{BB962C8B-B14F-4D97-AF65-F5344CB8AC3E}">
        <p14:creationId xmlns:p14="http://schemas.microsoft.com/office/powerpoint/2010/main" val="181316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latin typeface="Times New Roman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latin typeface="Times New Roman"/>
              </a:rPr>
              <a:t>1. Set up a tree-leaning arc fault experiment in the VIT High Voltage Engineering Laboratory.</a:t>
            </a:r>
          </a:p>
          <a:p>
            <a:pPr algn="l"/>
            <a:r>
              <a:rPr sz="1500" b="0">
                <a:latin typeface="Times New Roman"/>
              </a:rPr>
              <a:t>2. Acquire arc voltage signals in real time at 20 kHz using Arduino Uno + ZMPT101B sensor.</a:t>
            </a:r>
          </a:p>
          <a:p>
            <a:pPr algn="l"/>
            <a:r>
              <a:rPr sz="1500" b="0">
                <a:latin typeface="Times New Roman"/>
              </a:rPr>
              <a:t>3. Implement a Python spectral engine to compute FFT and Power Spectral Density (PSD) on the captured signals.</a:t>
            </a:r>
          </a:p>
          <a:p>
            <a:pPr algn="l"/>
            <a:r>
              <a:rPr sz="1500" b="0">
                <a:latin typeface="Times New Roman"/>
              </a:rPr>
              <a:t>4. Extract harmonic signatures — especially 3rd (150 Hz) and 5th (250 Hz) harmonics — characteristic of arc faults.</a:t>
            </a:r>
          </a:p>
          <a:p>
            <a:pPr algn="l"/>
            <a:r>
              <a:rPr sz="1500" b="0">
                <a:latin typeface="Times New Roman"/>
              </a:rPr>
              <a:t>5. Design a 3-stage simultaneous trigger algorithm (Spectral + Temporal + Broadband) to distinguish HIF from normal load.</a:t>
            </a:r>
          </a:p>
          <a:p>
            <a:pPr algn="l"/>
            <a:r>
              <a:rPr sz="1500" b="0">
                <a:latin typeface="Times New Roman"/>
              </a:rPr>
              <a:t>6. Validate the system with live fault detection, confirming zero false positives across all test cases.</a:t>
            </a:r>
          </a:p>
          <a:p>
            <a:pPr algn="l"/>
            <a:r>
              <a:rPr sz="1500" b="0">
                <a:latin typeface="Times New Roman"/>
              </a:rPr>
              <a:t>7. Demonstrate a complete DFR system at under INR 800 — proving affordability without compromising accuracy.</a:t>
            </a:r>
          </a:p>
        </p:txBody>
      </p:sp>
      <p:pic>
        <p:nvPicPr>
          <p:cNvPr id="4" name="Picture 3" descr="corona_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34747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9958" y="5989320"/>
            <a:ext cx="32047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444444"/>
                </a:solidFill>
                <a:latin typeface="Times New Roman"/>
              </a:rPr>
              <a:t>1</a:t>
            </a:r>
            <a:r>
              <a:rPr sz="1000" b="0" dirty="0">
                <a:solidFill>
                  <a:srgbClr val="444444"/>
                </a:solidFill>
                <a:latin typeface="Times New Roman"/>
              </a:rPr>
              <a:t>: Corona arc at tree leaf tip during HIAF experiment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latin typeface="Times New Roman"/>
              </a:rPr>
              <a:t>System Block Diagram – Experimental HIF Circuit</a:t>
            </a:r>
          </a:p>
        </p:txBody>
      </p:sp>
      <p:pic>
        <p:nvPicPr>
          <p:cNvPr id="3" name="Picture 2" descr="circui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49139" y="4800600"/>
            <a:ext cx="544572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2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Experimental setup for HIF measurement on a medium-voltage line (Tree Contact Simulation)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2120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Times New Roman"/>
              </a:rPr>
              <a:t>230V / 50Hz Supply → Auto-Transformer (0–600V) → HV Testing Transformer (500kVA, 500kV) → Capacitor Divider → ZMPT101B Sensor → Arduino Uno (20 kHz ADC) → Laptop (Python FFT/PSD engine)</a:t>
            </a:r>
          </a:p>
          <a:p>
            <a:r>
              <a:rPr sz="1400" b="1">
                <a:latin typeface="Times New Roman"/>
              </a:rPr>
              <a:t>Output states: SYSTEM STATE: NORMAL | WARNING: PRE-FAULT STATE | CRITICAL: FAULT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Times New Roman"/>
              </a:rPr>
              <a:t>Methodology – Signal Processing &amp; Detection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Times New Roman"/>
              </a:rPr>
              <a:t>Step 1 — Signal Acquisition:</a:t>
            </a:r>
          </a:p>
          <a:p>
            <a:pPr algn="l"/>
            <a:r>
              <a:rPr sz="1400" b="0">
                <a:latin typeface="Times New Roman"/>
              </a:rPr>
              <a:t>Arduino Uno reads ZMPT101B at 20 kHz. Raw ADC values streamed via UART 115200 baud to laptop.</a:t>
            </a:r>
          </a:p>
          <a:p>
            <a:pPr algn="l"/>
            <a:r>
              <a:rPr sz="1500" b="1">
                <a:latin typeface="Times New Roman"/>
              </a:rPr>
              <a:t>Step 2 — FFT Analysis:</a:t>
            </a:r>
          </a:p>
          <a:p>
            <a:pPr algn="l"/>
            <a:r>
              <a:rPr sz="1400" b="0">
                <a:latin typeface="Times New Roman"/>
              </a:rPr>
              <a:t>Discrete Fourier Transform applied to convert time-domain voltage signal into frequency components (0–500 Hz focus range).</a:t>
            </a:r>
          </a:p>
          <a:p>
            <a:pPr algn="l"/>
            <a:r>
              <a:rPr sz="1500" b="1">
                <a:latin typeface="Times New Roman"/>
              </a:rPr>
              <a:t>Step 3 — PSD Estimation:</a:t>
            </a:r>
          </a:p>
          <a:p>
            <a:pPr algn="l"/>
            <a:r>
              <a:rPr sz="1400" b="0">
                <a:latin typeface="Times New Roman"/>
              </a:rPr>
              <a:t>Power Spectral Density estimated using periodogram with Hann window to reduce spectral leakage. Formula: P(f) = (1/fsN) |Σ v[n]w[n]e^(-j2πfn/fs)|²</a:t>
            </a:r>
          </a:p>
          <a:p>
            <a:pPr algn="l"/>
            <a:r>
              <a:rPr sz="1500" b="1">
                <a:latin typeface="Times New Roman"/>
              </a:rPr>
              <a:t>Step 4 — 3-Stage Simultaneous Trigger (all three must be satisfied for ≥3 cycles):</a:t>
            </a:r>
          </a:p>
          <a:p>
            <a:pPr algn="l"/>
            <a:r>
              <a:rPr sz="1400" b="0">
                <a:latin typeface="Times New Roman"/>
              </a:rPr>
              <a:t>  • Spectral Trigger: 3rd harmonic PSD contribution &gt; 5% of total signal power</a:t>
            </a:r>
          </a:p>
          <a:p>
            <a:pPr algn="l"/>
            <a:r>
              <a:rPr sz="1400" b="0">
                <a:latin typeface="Times New Roman"/>
              </a:rPr>
              <a:t>  • Temporal Trigger: Zero-crossing delay (shouldering) or significant dV/dt RMS rise</a:t>
            </a:r>
          </a:p>
          <a:p>
            <a:pPr algn="l"/>
            <a:r>
              <a:rPr sz="1400" b="0">
                <a:latin typeface="Times New Roman"/>
              </a:rPr>
              <a:t>  • Broadband Trigger: Integrated energy in 200–500 Hz band &gt; 2.5% of total PSD energy</a:t>
            </a:r>
          </a:p>
        </p:txBody>
      </p:sp>
      <p:pic>
        <p:nvPicPr>
          <p:cNvPr id="4" name="Picture 3" descr="hardware_setup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3474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55794" y="4617720"/>
            <a:ext cx="295305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3: Python spectral engine running live on laptop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Times New Roman"/>
              </a:rPr>
              <a:t>Hardware Components &amp;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Times New Roman"/>
              </a:rPr>
              <a:t>Component                    Specification</a:t>
            </a:r>
          </a:p>
          <a:p>
            <a:pPr algn="l"/>
            <a:r>
              <a:rPr sz="1400" b="0">
                <a:latin typeface="Times New Roman"/>
              </a:rPr>
              <a:t>HV Test Transformer        500kVA, 500kV — VIT HV Lab</a:t>
            </a:r>
          </a:p>
          <a:p>
            <a:pPr algn="l"/>
            <a:r>
              <a:rPr sz="1400" b="0">
                <a:latin typeface="Times New Roman"/>
              </a:rPr>
              <a:t>Auto-Transformer            0–600V variable output</a:t>
            </a:r>
          </a:p>
          <a:p>
            <a:pPr algn="l"/>
            <a:r>
              <a:rPr sz="1400" b="0">
                <a:latin typeface="Times New Roman"/>
              </a:rPr>
              <a:t>Capacitor Divider            Scales HV signal to 0–5V for safe ADC input</a:t>
            </a:r>
          </a:p>
          <a:p>
            <a:pPr algn="l"/>
            <a:r>
              <a:rPr sz="1400" b="0">
                <a:latin typeface="Times New Roman"/>
              </a:rPr>
              <a:t>ZMPT101B Sensor           Active isolated voltage transformer, galvanic isolation, linear 50–500 Hz</a:t>
            </a:r>
          </a:p>
          <a:p>
            <a:pPr algn="l"/>
            <a:r>
              <a:rPr sz="1400" b="0">
                <a:latin typeface="Times New Roman"/>
              </a:rPr>
              <a:t>Arduino Uno                   10-bit ADC, ~20 kHz effective sampling, UART 115200 baud</a:t>
            </a:r>
          </a:p>
          <a:p>
            <a:pPr algn="l"/>
            <a:r>
              <a:rPr sz="1400" b="0">
                <a:latin typeface="Times New Roman"/>
              </a:rPr>
              <a:t>USB Cable                       Arduino-to-PC serial data link</a:t>
            </a:r>
          </a:p>
          <a:p>
            <a:pPr algn="l"/>
            <a:r>
              <a:rPr sz="1400" b="0">
                <a:latin typeface="Times New Roman"/>
              </a:rPr>
              <a:t>Laptop                              Intel Core i5/i7, 8 GB RAM, Python 3.10</a:t>
            </a:r>
          </a:p>
          <a:p>
            <a:pPr algn="l"/>
            <a:r>
              <a:rPr sz="1400" b="0">
                <a:latin typeface="Times New Roman"/>
              </a:rPr>
              <a:t>Python Libraries              NumPy (FFT), SciPy (PSD/periodogram), Matplotlib, pySerial</a:t>
            </a:r>
          </a:p>
          <a:p>
            <a:pPr algn="l"/>
            <a:endParaRPr sz="1400" b="0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Total Hardware Cost: ~INR 800 (Arduino ~500 + ZMPT101B ~180 + Cables ~120)</a:t>
            </a:r>
          </a:p>
        </p:txBody>
      </p:sp>
      <p:pic>
        <p:nvPicPr>
          <p:cNvPr id="4" name="Picture 3" descr="hardware_setu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05840"/>
            <a:ext cx="35661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92679" y="4709159"/>
            <a:ext cx="358784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4: Arduino + ZMPT101B connected to laptop (VIT HV Lab)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latin typeface="Times New Roman"/>
              </a:rPr>
              <a:t>Experimental Setup – VIT High Voltage Laboratory (April 13, 2026)</a:t>
            </a:r>
          </a:p>
        </p:txBody>
      </p:sp>
      <p:pic>
        <p:nvPicPr>
          <p:cNvPr id="3" name="Picture 2" descr="hv_lab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4507" y="4800600"/>
            <a:ext cx="69749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5.1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Complete High-Voltage Equipment Arrangement: Tree-Leaning Test Setup (Photograph taken 13 April 2026, VIT HV Lab)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2120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Times New Roman"/>
              </a:rPr>
              <a:t>The HV test cage houses the 500kVA transformer, capacitor divider stack, and the leaning-tree model. The tree branch (right) is positioned close to the live medium-voltage test line to simulate real-world HIF conditions under controlled voltage escalation.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latin typeface="Times New Roman"/>
              </a:rPr>
              <a:t>Experimental Setup – Lab Overview &amp; Tree-Conductor Interface</a:t>
            </a:r>
          </a:p>
        </p:txBody>
      </p:sp>
      <p:pic>
        <p:nvPicPr>
          <p:cNvPr id="3" name="Picture 2" descr="lab_overview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42062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505" y="4160520"/>
            <a:ext cx="44149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5.2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(a): Overview of VIT HV Lab – full equipment layout with tree placement</a:t>
            </a:r>
          </a:p>
        </p:txBody>
      </p:sp>
      <p:pic>
        <p:nvPicPr>
          <p:cNvPr id="5" name="Picture 4" descr="lab_overview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2062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83655" y="4160520"/>
            <a:ext cx="43829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5.2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(b): Close-up of tree branch positioned adjacent to the HV conductor wire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1772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Times New Roman"/>
              </a:rPr>
              <a:t>Left: Lab overview showing HV transformer stack, capacitor dividers, and tree positioned on the right side. Right: Close-up showing the tree branch making near-contact with the live conductor — the critical HIF simulation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Times New Roman"/>
              </a:rPr>
              <a:t>Experimental Setup – Tree-Leaf Conductor Contact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latin typeface="Times New Roman"/>
              </a:rPr>
              <a:t>The close-up view shows a large-leaf plant branch leaning onto the bare conductor wire (horizontal, grey line).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This contact point is exactly where the High Impedance Arc Fault initiates:</a:t>
            </a:r>
          </a:p>
          <a:p>
            <a:pPr algn="l"/>
            <a:r>
              <a:rPr sz="1500" b="0">
                <a:latin typeface="Times New Roman"/>
              </a:rPr>
              <a:t>• The leaf surface provides high resistance to current flow.</a:t>
            </a:r>
          </a:p>
          <a:p>
            <a:pPr algn="l"/>
            <a:r>
              <a:rPr sz="1500" b="0">
                <a:latin typeface="Times New Roman"/>
              </a:rPr>
              <a:t>• Moisture in the leaf tissue partially ionizes the air gap.</a:t>
            </a:r>
          </a:p>
          <a:p>
            <a:pPr algn="l"/>
            <a:r>
              <a:rPr sz="1500" b="0">
                <a:latin typeface="Times New Roman"/>
              </a:rPr>
              <a:t>• As voltage is gradually raised, corona discharge begins at the tip of the leaf.</a:t>
            </a:r>
          </a:p>
          <a:p>
            <a:pPr algn="l"/>
            <a:r>
              <a:rPr sz="1500" b="0">
                <a:latin typeface="Times New Roman"/>
              </a:rPr>
              <a:t>• Eventually, a visible arc bridges the gap between leaf and conductor.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400" b="0">
                <a:latin typeface="Times New Roman"/>
              </a:rPr>
              <a:t>This models real-world distribution line faults caused by tree overgrowth during storms, simulating conditions that conventional relays fail to detect.</a:t>
            </a:r>
          </a:p>
        </p:txBody>
      </p:sp>
      <p:pic>
        <p:nvPicPr>
          <p:cNvPr id="4" name="Picture 3" descr="tree_close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8404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04223" y="6263640"/>
            <a:ext cx="36904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6: Tree-Leaning Test Setup – leaf touching HV conductor wire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latin typeface="Times New Roman"/>
              </a:rPr>
              <a:t>Corona Discharge &amp; Arc – Tree Leaf Tip (High Impedance Arc Fault)</a:t>
            </a:r>
          </a:p>
        </p:txBody>
      </p:sp>
      <p:pic>
        <p:nvPicPr>
          <p:cNvPr id="3" name="Picture 2" descr="corona_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42062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937" y="4160520"/>
            <a:ext cx="37401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7.1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Corona discharge and bright arc at tree leaf tip during HIAF</a:t>
            </a:r>
          </a:p>
        </p:txBody>
      </p:sp>
      <p:pic>
        <p:nvPicPr>
          <p:cNvPr id="5" name="Picture 4" descr="corona_tre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42062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05057" y="4160520"/>
            <a:ext cx="37401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7.2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Second HIAF arc experiment – corona glow at same leaf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1772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Times New Roman"/>
              </a:rPr>
              <a:t>Bright orange arc visible at the leaf tip confirms active HIAF. The corona glow (blue halo) transitions to a full arc as voltage increases. The arc is intermittent and self-extinguishing — matching the 'flickering' signature described in literature and detected by our 3-stage algorithm.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latin typeface="Times New Roman"/>
              </a:rPr>
              <a:t>Corona Discharge &amp; Arc – Sand/Soil Model (Alternative Fault Surface)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4754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latin typeface="Times New Roman"/>
              </a:rPr>
              <a:t>The sand model simulates a downed conductor lying on dry soil — another common HIF scenario.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Observations:</a:t>
            </a:r>
          </a:p>
          <a:p>
            <a:pPr algn="l"/>
            <a:r>
              <a:rPr sz="1500" b="0">
                <a:latin typeface="Times New Roman"/>
              </a:rPr>
              <a:t>• A thin wire suspended above the sand pile acts as the point conductor.</a:t>
            </a:r>
          </a:p>
          <a:p>
            <a:pPr algn="l"/>
            <a:r>
              <a:rPr sz="1500" b="0">
                <a:latin typeface="Times New Roman"/>
              </a:rPr>
              <a:t>• As HV is applied, current flows through the sand's conductive moisture layer.</a:t>
            </a:r>
          </a:p>
          <a:p>
            <a:pPr algn="l"/>
            <a:r>
              <a:rPr sz="1500" b="0">
                <a:latin typeface="Times New Roman"/>
              </a:rPr>
              <a:t>• A bright point arc is visible at the wire-sand interface (center of image).</a:t>
            </a:r>
          </a:p>
          <a:p>
            <a:pPr algn="l"/>
            <a:r>
              <a:rPr sz="1500" b="0">
                <a:latin typeface="Times New Roman"/>
              </a:rPr>
              <a:t>• Sand particles are partially ionized and displaced by the arc force.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Spectral Signature Difference:</a:t>
            </a:r>
          </a:p>
          <a:p>
            <a:pPr algn="l"/>
            <a:r>
              <a:rPr sz="1400" b="0">
                <a:latin typeface="Times New Roman"/>
              </a:rPr>
              <a:t>Sand arcs produced higher broadband noise (200–500 Hz) compared to tree arcs, but both showed clear 3rd harmonic (150 Hz) rise exceeding the 5% detection threshold.</a:t>
            </a:r>
          </a:p>
        </p:txBody>
      </p:sp>
      <p:pic>
        <p:nvPicPr>
          <p:cNvPr id="4" name="Picture 3" descr="corona_s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8404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5175" y="5532120"/>
            <a:ext cx="352853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444444"/>
                </a:solidFill>
                <a:latin typeface="Times New Roman"/>
              </a:rPr>
              <a:t>8</a:t>
            </a:r>
            <a:r>
              <a:rPr sz="1000" b="0" dirty="0">
                <a:solidFill>
                  <a:srgbClr val="444444"/>
                </a:solidFill>
                <a:latin typeface="Times New Roman"/>
              </a:rPr>
              <a:t>: Corona discharge and arc at sand tip – Sand_1.7 test case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Times New Roman"/>
              </a:rPr>
              <a:t>Spectral Analysis – Normal Operating Condition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/>
              </a:rPr>
              <a:t>Signal: Sand_1.csv | Sampling Rate: 20 kHz</a:t>
            </a:r>
          </a:p>
          <a:p>
            <a:pPr algn="l"/>
            <a:endParaRPr sz="1400" b="1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Time Domain:</a:t>
            </a:r>
          </a:p>
          <a:p>
            <a:pPr algn="l"/>
            <a:r>
              <a:rPr sz="1400" b="0">
                <a:latin typeface="Times New Roman"/>
              </a:rPr>
              <a:t>Near-perfect sinusoidal waveform at 50 Hz. No visible distortion, shouldering, or transients.</a:t>
            </a:r>
          </a:p>
          <a:p>
            <a:pPr algn="l"/>
            <a:r>
              <a:rPr sz="1500" b="1">
                <a:latin typeface="Times New Roman"/>
              </a:rPr>
              <a:t>FFT Magnitude:</a:t>
            </a:r>
          </a:p>
          <a:p>
            <a:pPr algn="l"/>
            <a:r>
              <a:rPr sz="1400" b="0">
                <a:latin typeface="Times New Roman"/>
              </a:rPr>
              <a:t>Single dominant peak at ~41–50 Hz. All harmonics negligibly small.</a:t>
            </a:r>
          </a:p>
          <a:p>
            <a:pPr algn="l"/>
            <a:r>
              <a:rPr sz="1500" b="1">
                <a:latin typeface="Times New Roman"/>
              </a:rPr>
              <a:t>PSD:</a:t>
            </a:r>
          </a:p>
          <a:p>
            <a:pPr algn="l"/>
            <a:r>
              <a:rPr sz="1400" b="0">
                <a:latin typeface="Times New Roman"/>
              </a:rPr>
              <a:t>Over 95% of signal power concentrated at 50 Hz. Energy above 100 Hz is below noise floor.</a:t>
            </a:r>
          </a:p>
          <a:p>
            <a:pPr algn="l"/>
            <a:r>
              <a:rPr sz="1500" b="1">
                <a:latin typeface="Times New Roman"/>
              </a:rPr>
              <a:t>Harmonic Contribution:</a:t>
            </a:r>
          </a:p>
          <a:p>
            <a:pPr algn="l"/>
            <a:r>
              <a:rPr sz="1400" b="0">
                <a:latin typeface="Times New Roman"/>
              </a:rPr>
              <a:t>Fundamental: 52.45% PSD | 3rd Harmonic (150 Hz): &lt;0.03% PSD</a:t>
            </a:r>
          </a:p>
          <a:p>
            <a:pPr algn="l"/>
            <a:endParaRPr sz="1400" b="0">
              <a:latin typeface="Times New Roman"/>
            </a:endParaRPr>
          </a:p>
          <a:p>
            <a:pPr algn="l"/>
            <a:r>
              <a:rPr sz="1400" b="1">
                <a:latin typeface="Times New Roman"/>
              </a:rPr>
              <a:t>SYSTEM STATE: NORMAL — No fault trigger satisfied.</a:t>
            </a:r>
          </a:p>
        </p:txBody>
      </p:sp>
      <p:pic>
        <p:nvPicPr>
          <p:cNvPr id="4" name="Picture 3" descr="spectral_norm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777240"/>
            <a:ext cx="448056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80432" y="6583679"/>
            <a:ext cx="36808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444444"/>
                </a:solidFill>
                <a:latin typeface="Times New Roman"/>
              </a:rPr>
              <a:t>9.1</a:t>
            </a:r>
            <a:r>
              <a:rPr sz="1000" b="0" dirty="0">
                <a:solidFill>
                  <a:srgbClr val="444444"/>
                </a:solidFill>
                <a:latin typeface="Times New Roman"/>
              </a:rPr>
              <a:t>: Spectral analysis – Sand_1 (Normal Condition, Fs=20kHz)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Times New Roman"/>
              </a:rPr>
              <a:t>Spectral Analysis – Pre-Fault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/>
              </a:rPr>
              <a:t>Signal: Tree_2.1.csv | Sampling Rate: 20 kHz</a:t>
            </a:r>
          </a:p>
          <a:p>
            <a:pPr algn="l"/>
            <a:endParaRPr sz="1400" b="1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Time Domain:</a:t>
            </a:r>
          </a:p>
          <a:p>
            <a:pPr algn="l"/>
            <a:r>
              <a:rPr sz="1400" b="0">
                <a:latin typeface="Times New Roman"/>
              </a:rPr>
              <a:t>Slight waveform asymmetry and 'shouldering' at zero crossings — first signs of arc ionization.</a:t>
            </a:r>
          </a:p>
          <a:p>
            <a:pPr algn="l"/>
            <a:r>
              <a:rPr sz="1500" b="1">
                <a:latin typeface="Times New Roman"/>
              </a:rPr>
              <a:t>FFT Magnitude:</a:t>
            </a:r>
          </a:p>
          <a:p>
            <a:pPr algn="l"/>
            <a:r>
              <a:rPr sz="1400" b="0">
                <a:latin typeface="Times New Roman"/>
              </a:rPr>
              <a:t>Fundamental still dominant but 3rd and 5th harmonic peaks beginning to emerge.</a:t>
            </a:r>
          </a:p>
          <a:p>
            <a:pPr algn="l"/>
            <a:r>
              <a:rPr sz="1500" b="1">
                <a:latin typeface="Times New Roman"/>
              </a:rPr>
              <a:t>PSD:</a:t>
            </a:r>
          </a:p>
          <a:p>
            <a:pPr algn="l"/>
            <a:r>
              <a:rPr sz="1400" b="0">
                <a:latin typeface="Times New Roman"/>
              </a:rPr>
              <a:t>Fundamental PSD at ~66.26%. 3rd harmonic shows small but rising PSD contribution.</a:t>
            </a:r>
          </a:p>
          <a:p>
            <a:pPr algn="l"/>
            <a:r>
              <a:rPr sz="1500" b="1">
                <a:latin typeface="Times New Roman"/>
              </a:rPr>
              <a:t>Harmonic Contribution:</a:t>
            </a:r>
          </a:p>
          <a:p>
            <a:pPr algn="l"/>
            <a:r>
              <a:rPr sz="1400" b="0">
                <a:latin typeface="Times New Roman"/>
              </a:rPr>
              <a:t>Fundamental: 66.26% | 3rd Harmonic: 0.00% (but FFT Mag% rising) | 5th Harmonic: 0.23%</a:t>
            </a:r>
          </a:p>
          <a:p>
            <a:pPr algn="l"/>
            <a:endParaRPr sz="1400" b="0">
              <a:latin typeface="Times New Roman"/>
            </a:endParaRPr>
          </a:p>
          <a:p>
            <a:pPr algn="l"/>
            <a:r>
              <a:rPr sz="1400" b="1">
                <a:latin typeface="Times New Roman"/>
              </a:rPr>
              <a:t>WARNING: PRE-FAULT STATE — Only partial trigger satisfied.</a:t>
            </a:r>
          </a:p>
          <a:p>
            <a:pPr algn="l"/>
            <a:r>
              <a:rPr sz="1300" b="0">
                <a:latin typeface="Times New Roman"/>
              </a:rPr>
              <a:t>The system correctly raises a warning without triggering a false positive.</a:t>
            </a:r>
          </a:p>
        </p:txBody>
      </p:sp>
      <p:pic>
        <p:nvPicPr>
          <p:cNvPr id="4" name="Picture 3" descr="spectral_pr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777240"/>
            <a:ext cx="448056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99480" y="6583679"/>
            <a:ext cx="38427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444444"/>
                </a:solidFill>
                <a:latin typeface="Times New Roman"/>
              </a:rPr>
              <a:t>9.2</a:t>
            </a:r>
            <a:r>
              <a:rPr sz="1000" b="0" dirty="0">
                <a:solidFill>
                  <a:srgbClr val="444444"/>
                </a:solidFill>
                <a:latin typeface="Times New Roman"/>
              </a:rPr>
              <a:t>: Spectral analysis – Tree_2.1 (Pre-Fault Condition, Fs=20kHz)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Times New Roman"/>
              </a:rPr>
              <a:t>Spectral Analysis – Full Arc Fault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2296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Times New Roman"/>
              </a:rPr>
              <a:t>Signal: Tree_1.6.csv | Sampling Rate: 10–20 kHz</a:t>
            </a:r>
          </a:p>
          <a:p>
            <a:pPr algn="l"/>
            <a:endParaRPr sz="1400" b="1">
              <a:latin typeface="Times New Roman"/>
            </a:endParaRPr>
          </a:p>
          <a:p>
            <a:pPr algn="l"/>
            <a:r>
              <a:rPr sz="1500" b="1">
                <a:latin typeface="Times New Roman"/>
              </a:rPr>
              <a:t>Time Domain:</a:t>
            </a:r>
          </a:p>
          <a:p>
            <a:pPr algn="l"/>
            <a:r>
              <a:rPr sz="1400" b="0">
                <a:latin typeface="Times New Roman"/>
              </a:rPr>
              <a:t>Severely distorted waveform — irregular rectangular shape with sharp transients. Arc extinction and re-ignition visible as vertical spikes.</a:t>
            </a:r>
          </a:p>
          <a:p>
            <a:pPr algn="l"/>
            <a:r>
              <a:rPr sz="1500" b="1">
                <a:latin typeface="Times New Roman"/>
              </a:rPr>
              <a:t>FFT Magnitude:</a:t>
            </a:r>
          </a:p>
          <a:p>
            <a:pPr algn="l"/>
            <a:r>
              <a:rPr sz="1400" b="0">
                <a:latin typeface="Times New Roman"/>
              </a:rPr>
              <a:t>Fundamental reduced. 3rd harmonic (150 Hz) clearly visible spike. Odd harmonics (3rd, 5th, 7th) all elevated.</a:t>
            </a:r>
          </a:p>
          <a:p>
            <a:pPr algn="l"/>
            <a:r>
              <a:rPr sz="1500" b="1">
                <a:latin typeface="Times New Roman"/>
              </a:rPr>
              <a:t>PSD:</a:t>
            </a:r>
          </a:p>
          <a:p>
            <a:pPr algn="l"/>
            <a:r>
              <a:rPr sz="1400" b="0">
                <a:latin typeface="Times New Roman"/>
              </a:rPr>
              <a:t>Fundamental drops to 46.14%. 3rd harmonic rises to 3.81%. Broadband noise floor raised across 200–500 Hz.</a:t>
            </a:r>
          </a:p>
          <a:p>
            <a:pPr algn="l"/>
            <a:r>
              <a:rPr sz="1500" b="1">
                <a:latin typeface="Times New Roman"/>
              </a:rPr>
              <a:t>All 3 Triggers Satisfied:</a:t>
            </a:r>
          </a:p>
          <a:p>
            <a:pPr algn="l"/>
            <a:r>
              <a:rPr sz="1400" b="0">
                <a:latin typeface="Times New Roman"/>
              </a:rPr>
              <a:t>Spectral: 3rd harmonic PSD = 3.81% (&gt;2%, rising)  |  Broadband: &gt;2.5%  |  Temporal: dV/dt spike confirmed</a:t>
            </a:r>
          </a:p>
          <a:p>
            <a:pPr algn="l"/>
            <a:endParaRPr sz="1400" b="0">
              <a:latin typeface="Times New Roman"/>
            </a:endParaRPr>
          </a:p>
          <a:p>
            <a:pPr algn="l"/>
            <a:r>
              <a:rPr sz="1400" b="1">
                <a:latin typeface="Times New Roman"/>
              </a:rPr>
              <a:t>CRITICAL: FAULT DETECTED — HIF alert raised immediately.</a:t>
            </a:r>
          </a:p>
        </p:txBody>
      </p:sp>
      <p:pic>
        <p:nvPicPr>
          <p:cNvPr id="4" name="Picture 3" descr="spectral_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777240"/>
            <a:ext cx="448056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46957" y="6583679"/>
            <a:ext cx="3547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444444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444444"/>
                </a:solidFill>
                <a:latin typeface="Times New Roman"/>
              </a:rPr>
              <a:t>9.3</a:t>
            </a:r>
            <a:r>
              <a:rPr sz="1000" b="0" dirty="0">
                <a:solidFill>
                  <a:srgbClr val="444444"/>
                </a:solidFill>
                <a:latin typeface="Times New Roman"/>
              </a:rPr>
              <a:t>: Spectral analysis – Tree_1.6 (Full Arc Fault, Fs=10kHz)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latin typeface="Times New Roman"/>
              </a:rPr>
              <a:t>Live DFR Monitor Output – SYSTEM STATE: NORMAL</a:t>
            </a:r>
          </a:p>
        </p:txBody>
      </p:sp>
      <p:pic>
        <p:nvPicPr>
          <p:cNvPr id="3" name="Picture 2" descr="live_norm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3122" y="4800600"/>
            <a:ext cx="63177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10.1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Live DFR monitor – Output_Sand_1.1 (Normal Condition) — SYSTEM STATE: NORMAL shown in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2120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Times New Roman"/>
              </a:rPr>
              <a:t>Python Live Monitor generates a real-time 2×2 dashboard: Time Domain waveform, FFT Magnitude, Power Spectral Density, and Harmonic Contribution %. Fundamental dominates at ~58% PSD. Harmonics all below threshold. System correctly classifies as NORMAL.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latin typeface="Times New Roman"/>
              </a:rPr>
              <a:t>Live DFR Monitor Output – WARNING: PRE-FAULT STATE</a:t>
            </a:r>
          </a:p>
        </p:txBody>
      </p:sp>
      <p:pic>
        <p:nvPicPr>
          <p:cNvPr id="3" name="Picture 2" descr="live_pr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3159" y="4800600"/>
            <a:ext cx="62776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10.2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Live DFR monitor – Tree_1.3 (Pre-Fault Condition) — WARNING: PRE-FAULT STATE shown in yellow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2120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Times New Roman"/>
              </a:rPr>
              <a:t>The waveform shows mild shouldering and early harmonic rise. 3rd harmonic just below the 5% PSD threshold. System enters WARNING state — alerting the operator without triggering a full fault response. This intermediate state is unique to the 3-stage algorithm design.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73152"/>
            <a:ext cx="8778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latin typeface="Times New Roman"/>
              </a:rPr>
              <a:t>Live DFR Monitor Output – CRITICAL: FAULT DETECTED</a:t>
            </a:r>
          </a:p>
        </p:txBody>
      </p:sp>
      <p:pic>
        <p:nvPicPr>
          <p:cNvPr id="3" name="Picture 2" descr="live_fa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94449" y="4800600"/>
            <a:ext cx="575510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333333"/>
                </a:solidFill>
                <a:latin typeface="Times New Roman"/>
              </a:rPr>
              <a:t>Fig. </a:t>
            </a:r>
            <a:r>
              <a:rPr lang="en-US" sz="1000" dirty="0">
                <a:solidFill>
                  <a:srgbClr val="333333"/>
                </a:solidFill>
                <a:latin typeface="Times New Roman"/>
              </a:rPr>
              <a:t>10.3</a:t>
            </a:r>
            <a:r>
              <a:rPr sz="1000" b="0" dirty="0">
                <a:solidFill>
                  <a:srgbClr val="333333"/>
                </a:solidFill>
                <a:latin typeface="Times New Roman"/>
              </a:rPr>
              <a:t>: Live DFR monitor – Tree_1.4 (Full Arc Fault) — CRITICAL: FAULT DETECTED shown in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2120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Times New Roman"/>
              </a:rPr>
              <a:t>All 3 triggers simultaneously satisfied: 3rd harmonic PSD = 6.28%, 5th harmonic PSD = 3.42%, Broadband noise &gt;2.5%. Fundamental PSD collapsed to 25.65%. Waveform shows severe distortion. System immediately raises CRITICAL alert in real 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Times New Roman"/>
              </a:rPr>
              <a:t>Live Console Telemetry – Tree_1.5 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 b="1">
                <a:latin typeface="Times New Roman"/>
              </a:rPr>
              <a:t>The Python engine prints classified telemetry for each analysis cycle:</a:t>
            </a:r>
          </a:p>
          <a:p>
            <a:pPr algn="l"/>
            <a:endParaRPr sz="1600" b="1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STREAM STATUS: ACTIVE  |  Fs: 20000.0 Hz</a:t>
            </a:r>
          </a:p>
          <a:p>
            <a:pPr algn="l"/>
            <a:r>
              <a:rPr sz="1500" b="0">
                <a:latin typeface="Times New Roman"/>
              </a:rPr>
              <a:t>ANALYZING CYCLE...</a:t>
            </a:r>
          </a:p>
          <a:p>
            <a:pPr algn="l"/>
            <a:r>
              <a:rPr sz="1500" b="0">
                <a:latin typeface="Times New Roman"/>
              </a:rPr>
              <a:t>[FUNDAMENTAL PSD]: 20.92%   (CRITICAL DROP DETECTED)</a:t>
            </a:r>
          </a:p>
          <a:p>
            <a:pPr algn="l"/>
            <a:r>
              <a:rPr sz="1500" b="0">
                <a:latin typeface="Times New Roman"/>
              </a:rPr>
              <a:t>[3rd HARMONIC PSD]: 6.99%   (THRESHOLD &gt; 5.0%)</a:t>
            </a:r>
          </a:p>
          <a:p>
            <a:pPr algn="l"/>
            <a:r>
              <a:rPr sz="1500" b="0">
                <a:latin typeface="Times New Roman"/>
              </a:rPr>
              <a:t>[5th HARMONIC PSD]: 4.94%   (THRESHOLD &gt; 3.0%)</a:t>
            </a:r>
          </a:p>
          <a:p>
            <a:pPr algn="l"/>
            <a:r>
              <a:rPr sz="1500" b="0">
                <a:latin typeface="Times New Roman"/>
              </a:rPr>
              <a:t>[BROADBAND 200-500Hz]: 5.28%  (THRESHOLD &gt; 2.5%)</a:t>
            </a:r>
          </a:p>
          <a:p>
            <a:pPr algn="l"/>
            <a:r>
              <a:rPr sz="1500" b="1">
                <a:latin typeface="Times New Roman"/>
              </a:rPr>
              <a:t>[ALERT]: CRITICAL FAULT DETECTED — HIAF STATE</a:t>
            </a:r>
          </a:p>
          <a:p>
            <a:pPr algn="l"/>
            <a:endParaRPr sz="1500" b="1">
              <a:latin typeface="Times New Roman"/>
            </a:endParaRPr>
          </a:p>
          <a:p>
            <a:pPr algn="l"/>
            <a:r>
              <a:rPr sz="1600" b="1">
                <a:latin typeface="Times New Roman"/>
              </a:rPr>
              <a:t>Key Spectral Contribution Table (Full Arc Fault Condition):</a:t>
            </a:r>
          </a:p>
          <a:p>
            <a:pPr algn="l"/>
            <a:r>
              <a:rPr sz="1500" b="0">
                <a:latin typeface="Times New Roman"/>
              </a:rPr>
              <a:t>Fundamental (≈50 Hz):         43.2% – 59.2% PSD   →  Dominant Component</a:t>
            </a:r>
          </a:p>
          <a:p>
            <a:pPr algn="l"/>
            <a:r>
              <a:rPr sz="1500" b="0">
                <a:latin typeface="Times New Roman"/>
              </a:rPr>
              <a:t>3rd Harmonic (≈150 Hz):       2.0% – 3.8% PSD      →  Primary Fault Signature</a:t>
            </a:r>
          </a:p>
          <a:p>
            <a:pPr algn="l"/>
            <a:r>
              <a:rPr sz="1500" b="0">
                <a:latin typeface="Times New Roman"/>
              </a:rPr>
              <a:t>5th Harmonic (≈250 Hz):       0.4% – 0.9% PSD      →  Secondary Distortion</a:t>
            </a:r>
          </a:p>
          <a:p>
            <a:pPr algn="l"/>
            <a:r>
              <a:rPr sz="1500" b="0">
                <a:latin typeface="Times New Roman"/>
              </a:rPr>
              <a:t>Broadband (200–500 Hz):      &gt; 2.5% PSD               →  Arcing Noise Floor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latin typeface="Times New Roman"/>
              </a:rPr>
              <a:t>Key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 b="1">
                <a:latin typeface="Times New Roman"/>
              </a:rPr>
              <a:t>Finding 1 — Corona Ignition Confirmed:</a:t>
            </a:r>
          </a:p>
          <a:p>
            <a:pPr algn="l"/>
            <a:r>
              <a:rPr sz="1400" b="0">
                <a:latin typeface="Times New Roman"/>
              </a:rPr>
              <a:t>Visible arcing at both tree-leaf and sand interfaces in VIT HV Lab faithfully replicated real-world HIAF characteristics.</a:t>
            </a:r>
          </a:p>
          <a:p>
            <a:pPr algn="l"/>
            <a:r>
              <a:rPr sz="1600" b="1">
                <a:latin typeface="Times New Roman"/>
              </a:rPr>
              <a:t>Finding 2 — 20 kHz Stable Sampling:</a:t>
            </a:r>
          </a:p>
          <a:p>
            <a:pPr algn="l"/>
            <a:r>
              <a:rPr sz="1400" b="0">
                <a:latin typeface="Times New Roman"/>
              </a:rPr>
              <a:t>Arduino achieved consistent 20 kHz acquisition — sufficient to capture harmonics up to the 200th order of 50 Hz.</a:t>
            </a:r>
          </a:p>
          <a:p>
            <a:pPr algn="l"/>
            <a:r>
              <a:rPr sz="1600" b="1">
                <a:latin typeface="Times New Roman"/>
              </a:rPr>
              <a:t>Finding 3 — Clear Harmonic Signature:</a:t>
            </a:r>
          </a:p>
          <a:p>
            <a:pPr algn="l"/>
            <a:r>
              <a:rPr sz="1400" b="0">
                <a:latin typeface="Times New Roman"/>
              </a:rPr>
              <a:t>3rd harmonic (150 Hz) amplitude exceeded 6.5% during arcing vs. below 1% under normal operation — a &gt;6x rise.</a:t>
            </a:r>
          </a:p>
          <a:p>
            <a:pPr algn="l"/>
            <a:r>
              <a:rPr sz="1600" b="1">
                <a:latin typeface="Times New Roman"/>
              </a:rPr>
              <a:t>Finding 4 — Fundamental Collapse:</a:t>
            </a:r>
          </a:p>
          <a:p>
            <a:pPr algn="l"/>
            <a:r>
              <a:rPr sz="1400" b="0">
                <a:latin typeface="Times New Roman"/>
              </a:rPr>
              <a:t>50 Hz PSD peak dropped from ~66% (normal) to 20.9% during full arc fault — a clear spectral fingerprint.</a:t>
            </a:r>
          </a:p>
          <a:p>
            <a:pPr algn="l"/>
            <a:r>
              <a:rPr sz="1600" b="1">
                <a:latin typeface="Times New Roman"/>
              </a:rPr>
              <a:t>Finding 5 — Zero False Positives:</a:t>
            </a:r>
          </a:p>
          <a:p>
            <a:pPr algn="l"/>
            <a:r>
              <a:rPr sz="1400" b="0">
                <a:latin typeface="Times New Roman"/>
              </a:rPr>
              <a:t>3-Stage algorithm correctly classified ALL test scenarios without any false triggering.</a:t>
            </a:r>
          </a:p>
          <a:p>
            <a:pPr algn="l"/>
            <a:r>
              <a:rPr sz="1600" b="1">
                <a:latin typeface="Times New Roman"/>
              </a:rPr>
              <a:t>Finding 6 — Real-Time Feasibility:</a:t>
            </a:r>
          </a:p>
          <a:p>
            <a:pPr algn="l"/>
            <a:r>
              <a:rPr sz="1400" b="0">
                <a:latin typeface="Times New Roman"/>
              </a:rPr>
              <a:t>Python live monitor confirmed instant fault classification — no batch processing delay, detection occurs within the same analysis cycle as the 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Cost Analysis – Total System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700" b="1">
                <a:latin typeface="Times New Roman"/>
              </a:rPr>
              <a:t>Component                                          Cost (INR)</a:t>
            </a:r>
          </a:p>
          <a:p>
            <a:pPr algn="l"/>
            <a:endParaRPr sz="1700" b="1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1.  HV Laboratory (VIT Institutional Access)    —    NIL</a:t>
            </a:r>
          </a:p>
          <a:p>
            <a:pPr algn="l"/>
            <a:r>
              <a:rPr sz="1500" b="0">
                <a:latin typeface="Times New Roman"/>
              </a:rPr>
              <a:t>2.  Arduino Uno Microcontroller                        —    ~INR 500</a:t>
            </a:r>
          </a:p>
          <a:p>
            <a:pPr algn="l"/>
            <a:r>
              <a:rPr sz="1500" b="0">
                <a:latin typeface="Times New Roman"/>
              </a:rPr>
              <a:t>3.  ZMPT101B Active Voltage Sensor               —    ~INR 180</a:t>
            </a:r>
          </a:p>
          <a:p>
            <a:pPr algn="l"/>
            <a:r>
              <a:rPr sz="1500" b="0">
                <a:latin typeface="Times New Roman"/>
              </a:rPr>
              <a:t>4.  USB Cable + Jumper Wires                           —    ~INR 120</a:t>
            </a:r>
          </a:p>
          <a:p>
            <a:pPr algn="l"/>
            <a:r>
              <a:rPr sz="1500" b="0">
                <a:latin typeface="Times New Roman"/>
              </a:rPr>
              <a:t>5.  Python 3.x + NumPy + SciPy (Open Source) —   NIL</a:t>
            </a:r>
          </a:p>
          <a:p>
            <a:pPr algn="l"/>
            <a:r>
              <a:rPr sz="1500" b="0">
                <a:latin typeface="Times New Roman"/>
              </a:rPr>
              <a:t>6.  Tree Branch + Sand (Natural Materials)         —    NIL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800" b="1">
                <a:latin typeface="Times New Roman"/>
              </a:rPr>
              <a:t>TOTAL ESTIMATED HARDWARE COST:   ~INR 800 (approx. USD 10)</a:t>
            </a:r>
          </a:p>
          <a:p>
            <a:pPr algn="l"/>
            <a:endParaRPr sz="1800" b="1">
              <a:latin typeface="Times New Roman"/>
            </a:endParaRPr>
          </a:p>
          <a:p>
            <a:pPr algn="l"/>
            <a:r>
              <a:rPr sz="1700" b="1">
                <a:latin typeface="Times New Roman"/>
              </a:rPr>
              <a:t>Cost Comparison:</a:t>
            </a:r>
          </a:p>
          <a:p>
            <a:pPr algn="l"/>
            <a:r>
              <a:rPr sz="1500" b="0">
                <a:latin typeface="Times New Roman"/>
              </a:rPr>
              <a:t>Commercial NI-DAQ systems: INR 80,000 – 2,00,000+</a:t>
            </a:r>
          </a:p>
          <a:p>
            <a:pPr algn="l"/>
            <a:r>
              <a:rPr sz="1500" b="0">
                <a:latin typeface="Times New Roman"/>
              </a:rPr>
              <a:t>Proprietary digital relays: INR 50,000 – 5,00,000+</a:t>
            </a:r>
          </a:p>
          <a:p>
            <a:pPr algn="l"/>
            <a:r>
              <a:rPr sz="1500" b="1">
                <a:latin typeface="Times New Roman"/>
              </a:rPr>
              <a:t>Our system: ~INR 800 — approximately 100x cheaper with comparable harmonic detection performance.</a:t>
            </a:r>
          </a:p>
          <a:p>
            <a:pPr algn="l"/>
            <a:endParaRPr sz="1500" b="1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Software licensing: ZERO — all libraries are open source.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500" b="0">
                <a:latin typeface="Times New Roman"/>
              </a:rPr>
              <a:t>1. A low-cost Digital Fault Recorder (DFR) was successfully designed and validated for High Impedance Fault (HIAF) detection.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2. Real tree-leaning arc fault experiments at VIT High Voltage Engineering Laboratory confirmed authentic HIAF behavior, with visible corona discharge and arcing at leaf and sand interfaces.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3. The 3rd harmonic (150 Hz) rise beyond 5% PSD and the fundamental power collapse below 30% are reliable and reproducible spectral fingerprints of HIAF.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4. The 3-stage simultaneous trigger (Spectral + Temporal + Broadband) achieved ZERO false positives across all 17 test data files analyzed.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5. A total hardware cost of ~INR 800 with open-source software proves that affordable, high-performance HIF detection is achievable outside expensive commercial platforms.</a:t>
            </a:r>
          </a:p>
          <a:p>
            <a:pPr algn="l"/>
            <a:endParaRPr sz="1500" b="0">
              <a:latin typeface="Times New Roman"/>
            </a:endParaRPr>
          </a:p>
          <a:p>
            <a:pPr algn="l"/>
            <a:r>
              <a:rPr sz="1500" b="0">
                <a:latin typeface="Times New Roman"/>
              </a:rPr>
              <a:t>6. The system demonstrates real-time detection capability — fault is identified in the same analysis cycle as its occurrence.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600" b="1" dirty="0">
                <a:latin typeface="Times New Roman"/>
              </a:rPr>
              <a:t>1. GSM/GPRS Alert Module:</a:t>
            </a:r>
          </a:p>
          <a:p>
            <a:pPr algn="l"/>
            <a:r>
              <a:rPr sz="1400" b="0" dirty="0">
                <a:latin typeface="Times New Roman"/>
              </a:rPr>
              <a:t>Integrate a SIM800L or similar module to send automated SMS fault alerts directly to utility operators, enabling remote monitoring without network infrastructure.</a:t>
            </a:r>
          </a:p>
          <a:p>
            <a:pPr algn="l"/>
            <a:endParaRPr sz="1400" b="0" dirty="0">
              <a:latin typeface="Times New Roman"/>
            </a:endParaRPr>
          </a:p>
          <a:p>
            <a:pPr algn="l"/>
            <a:r>
              <a:rPr sz="1600" b="1" dirty="0">
                <a:latin typeface="Times New Roman"/>
              </a:rPr>
              <a:t>2. Automated VCB Trip Signal:</a:t>
            </a:r>
          </a:p>
          <a:p>
            <a:pPr algn="l"/>
            <a:r>
              <a:rPr sz="1400" b="0" dirty="0">
                <a:latin typeface="Times New Roman"/>
              </a:rPr>
              <a:t>Connect DFR output to a Vacuum Circuit Breaker (VCB) contactor to complete the protection loop — detect and isolate the fault automatically in real time.</a:t>
            </a:r>
          </a:p>
          <a:p>
            <a:pPr algn="l"/>
            <a:endParaRPr sz="1400" b="0" dirty="0">
              <a:latin typeface="Times New Roman"/>
            </a:endParaRPr>
          </a:p>
          <a:p>
            <a:pPr algn="l"/>
            <a:r>
              <a:rPr sz="1600" b="1" dirty="0">
                <a:latin typeface="Times New Roman"/>
              </a:rPr>
              <a:t>3. Three-Phase Extension:</a:t>
            </a:r>
          </a:p>
          <a:p>
            <a:pPr algn="l"/>
            <a:r>
              <a:rPr sz="1400" b="0" dirty="0">
                <a:latin typeface="Times New Roman"/>
              </a:rPr>
              <a:t>Expand the single-phase DFR to a three-phase system using three ZMPT101B sensors and a </a:t>
            </a:r>
            <a:r>
              <a:rPr sz="1400" b="0" dirty="0" err="1">
                <a:latin typeface="Times New Roman"/>
              </a:rPr>
              <a:t>synchronised</a:t>
            </a:r>
            <a:r>
              <a:rPr sz="1400" b="0" dirty="0">
                <a:latin typeface="Times New Roman"/>
              </a:rPr>
              <a:t> Arduino Mega or ESP32 for distribution network deployment.</a:t>
            </a:r>
          </a:p>
          <a:p>
            <a:pPr algn="l"/>
            <a:endParaRPr sz="1400" b="0" dirty="0">
              <a:latin typeface="Times New Roman"/>
            </a:endParaRPr>
          </a:p>
          <a:p>
            <a:pPr algn="l"/>
            <a:r>
              <a:rPr sz="1600" b="1" dirty="0">
                <a:latin typeface="Times New Roman"/>
              </a:rPr>
              <a:t>4. Machine Learning Classification:</a:t>
            </a:r>
          </a:p>
          <a:p>
            <a:pPr algn="l"/>
            <a:r>
              <a:rPr sz="1400" b="0" dirty="0">
                <a:latin typeface="Times New Roman"/>
              </a:rPr>
              <a:t>Train an SVM or LSTM model on the captured harmonic feature vectors to classify fault type (tree-contact, sand, insulation failure) beyond simple threshold detection.</a:t>
            </a:r>
          </a:p>
          <a:p>
            <a:pPr algn="l"/>
            <a:endParaRPr sz="1400" b="0" dirty="0">
              <a:latin typeface="Times New Roman"/>
            </a:endParaRPr>
          </a:p>
          <a:p>
            <a:pPr algn="l"/>
            <a:r>
              <a:rPr sz="1600" b="1" dirty="0">
                <a:latin typeface="Times New Roman"/>
              </a:rPr>
              <a:t>5. Phase-Angle Shift Analysis:</a:t>
            </a:r>
          </a:p>
          <a:p>
            <a:pPr algn="l"/>
            <a:r>
              <a:rPr sz="1400" b="0" dirty="0">
                <a:latin typeface="Times New Roman"/>
              </a:rPr>
              <a:t>Add 3rd harmonic phase-angle tracking for improved sensitivity across diverse soil and surface conditions.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/>
            <a:r>
              <a:rPr sz="1300" b="0">
                <a:latin typeface="Times New Roman"/>
              </a:rPr>
              <a:t>[1] Tengdin, Westfall &amp; Stephan (1996), 'High impedance fault detection technology', IEEE PSRC Working Group D15.</a:t>
            </a:r>
          </a:p>
          <a:p>
            <a:pPr algn="l"/>
            <a:r>
              <a:rPr sz="1300" b="0">
                <a:latin typeface="Times New Roman"/>
              </a:rPr>
              <a:t>[2] Aucoin &amp; Jones (1996), 'High impedance fault detection implementation issues', IEEE Trans. Power Delivery, vol.11.</a:t>
            </a:r>
          </a:p>
          <a:p>
            <a:pPr algn="l"/>
            <a:r>
              <a:rPr sz="1300" b="0">
                <a:latin typeface="Times New Roman"/>
              </a:rPr>
              <a:t>[3] Milioudis et al. (2015), 'Detection and location of HIF in multiconductor overhead lines using PLC', IEEE Trans. Smart Grid.</a:t>
            </a:r>
          </a:p>
          <a:p>
            <a:pPr algn="l"/>
            <a:r>
              <a:rPr sz="1300" b="0">
                <a:latin typeface="Times New Roman"/>
              </a:rPr>
              <a:t>[4] Gautam &amp; Brahma (2013), 'Detection of HIF using mathematical morphology', IEEE Trans. Power Systems, vol.28.</a:t>
            </a:r>
          </a:p>
          <a:p>
            <a:pPr algn="l"/>
            <a:r>
              <a:rPr sz="1300" b="0">
                <a:latin typeface="Times New Roman"/>
              </a:rPr>
              <a:t>[6] Yu &amp; Khan (1994), 'Adaptive high and low impedance fault detection method', IEEE Trans. Power Delivery, vol.9.</a:t>
            </a:r>
          </a:p>
          <a:p>
            <a:pPr algn="l"/>
            <a:r>
              <a:rPr sz="1300" b="0">
                <a:latin typeface="Times New Roman"/>
              </a:rPr>
              <a:t>[9] Sarwar et al. (2019), 'HIF detection and isolation using support vector machines', J. King Saud University.</a:t>
            </a:r>
          </a:p>
          <a:p>
            <a:pPr algn="l"/>
            <a:r>
              <a:rPr sz="1300" b="0">
                <a:latin typeface="Times New Roman"/>
              </a:rPr>
              <a:t>[12] Elkalashy et al. (2007), 'Modeling and experimental verification of high impedance arcing fault in MV networks', IEEE Trans. Dielectrics.</a:t>
            </a:r>
          </a:p>
          <a:p>
            <a:pPr algn="l"/>
            <a:r>
              <a:rPr sz="1300" b="0">
                <a:latin typeface="Times New Roman"/>
              </a:rPr>
              <a:t>[13] Benner &amp; Russell (1997), 'Practical HIF detection on distribution feeders', IEEE Trans. Industry Applications, vol.33.</a:t>
            </a:r>
          </a:p>
          <a:p>
            <a:pPr algn="l"/>
            <a:r>
              <a:rPr sz="1300" b="0">
                <a:latin typeface="Times New Roman"/>
              </a:rPr>
              <a:t>[14] Lala &amp; Karmakar (2020), 'Detection and experimental validation of HIF using EMD', IEEE Systems Journal, vol.14, no.3.</a:t>
            </a:r>
          </a:p>
          <a:p>
            <a:pPr algn="l"/>
            <a:r>
              <a:rPr sz="1300" b="0">
                <a:latin typeface="Times New Roman"/>
              </a:rPr>
              <a:t>[18] Emanuel et al. (1990), 'High impedance fault arcing on sandy soil in 15 kV distribution feeders', IEEE Trans. Power Delivery, vol.5.</a:t>
            </a:r>
          </a:p>
          <a:p>
            <a:pPr algn="l"/>
            <a:endParaRPr sz="1300" b="0">
              <a:latin typeface="Times New Roman"/>
            </a:endParaRPr>
          </a:p>
          <a:p>
            <a:pPr algn="l"/>
            <a:r>
              <a:rPr sz="1300" b="1">
                <a:latin typeface="Times New Roman"/>
              </a:rPr>
              <a:t>Standards: IEEE Std 1159-2019 | IEEE Std 519-2014 | IEEE Std C37.111-2013 | IEC 60255-151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3120</Words>
  <Application>Microsoft Office PowerPoint</Application>
  <PresentationFormat>On-screen Show (4:3)</PresentationFormat>
  <Paragraphs>251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Digital Fault Recorder for High Impedance Faults</vt:lpstr>
      <vt:lpstr>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Console Telemetry – Tree_1.5 Test Case</vt:lpstr>
      <vt:lpstr>Key Results &amp; Discussion</vt:lpstr>
      <vt:lpstr>Cost Analysis – Total System Cost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Admin</dc:creator>
  <cp:lastModifiedBy>YASHTI  SHARMA</cp:lastModifiedBy>
  <cp:revision>6</cp:revision>
  <dcterms:created xsi:type="dcterms:W3CDTF">2025-08-29T13:13:18Z</dcterms:created>
  <dcterms:modified xsi:type="dcterms:W3CDTF">2026-05-04T15:58:58Z</dcterms:modified>
</cp:coreProperties>
</file>